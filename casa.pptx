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0" r:id="rId3"/>
    <p:sldId id="261" r:id="rId4"/>
    <p:sldId id="285" r:id="rId5"/>
    <p:sldId id="286" r:id="rId6"/>
    <p:sldId id="287" r:id="rId7"/>
    <p:sldId id="288" r:id="rId8"/>
    <p:sldId id="262" r:id="rId9"/>
    <p:sldId id="264" r:id="rId10"/>
    <p:sldId id="265" r:id="rId11"/>
    <p:sldId id="268" r:id="rId12"/>
    <p:sldId id="269" r:id="rId13"/>
    <p:sldId id="270" r:id="rId14"/>
    <p:sldId id="272" r:id="rId15"/>
    <p:sldId id="273" r:id="rId16"/>
    <p:sldId id="274" r:id="rId17"/>
    <p:sldId id="276" r:id="rId18"/>
    <p:sldId id="277" r:id="rId19"/>
    <p:sldId id="278" r:id="rId20"/>
    <p:sldId id="282" r:id="rId21"/>
    <p:sldId id="283" r:id="rId22"/>
    <p:sldId id="284" r:id="rId23"/>
    <p:sldId id="280" r:id="rId24"/>
    <p:sldId id="275" r:id="rId25"/>
    <p:sldId id="28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0000"/>
    <a:srgbClr val="3E3E3E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3"/>
    <p:restoredTop sz="94670"/>
  </p:normalViewPr>
  <p:slideViewPr>
    <p:cSldViewPr snapToGrid="0" snapToObjects="1">
      <p:cViewPr varScale="1">
        <p:scale>
          <a:sx n="109" d="100"/>
          <a:sy n="109" d="100"/>
        </p:scale>
        <p:origin x="864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3" d="100"/>
          <a:sy n="123" d="100"/>
        </p:scale>
        <p:origin x="-2816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F3E31-9781-B24F-87A9-F98653FBF465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F4F8C-1785-AC43-97F9-C9301BD93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7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F4F8C-1785-AC43-97F9-C9301BD933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44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cademicBdlg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459" y="207095"/>
            <a:ext cx="11663082" cy="64536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5400" b="1" i="0" spc="0">
                <a:solidFill>
                  <a:schemeClr val="bg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4235390"/>
            <a:ext cx="8534400" cy="1189892"/>
          </a:xfrm>
        </p:spPr>
        <p:txBody>
          <a:bodyPr>
            <a:normAutofit/>
          </a:bodyPr>
          <a:lstStyle>
            <a:lvl1pPr marL="0" indent="0" algn="ctr">
              <a:buNone/>
              <a:defRPr sz="2400" b="1" i="0" spc="300">
                <a:solidFill>
                  <a:schemeClr val="bg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29C16-EAA5-26FC-F00D-7F8EC0CCC5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4929" y="1017297"/>
            <a:ext cx="1462142" cy="11112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BF8071-B6F2-ADC6-C49C-1BE304384F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 flipV="1">
            <a:off x="-2967296" y="3299573"/>
            <a:ext cx="6463510" cy="2588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0C7E7D-86D8-A7B1-FD2F-C4958180D60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 flipV="1">
            <a:off x="8695786" y="3289723"/>
            <a:ext cx="6463510" cy="25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6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5485" y="245097"/>
            <a:ext cx="6800915" cy="923827"/>
          </a:xfrm>
        </p:spPr>
        <p:txBody>
          <a:bodyPr>
            <a:noAutofit/>
          </a:bodyPr>
          <a:lstStyle>
            <a:lvl1pPr algn="l">
              <a:defRPr sz="2800" b="1" i="0">
                <a:solidFill>
                  <a:schemeClr val="bg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8844"/>
            <a:ext cx="10972799" cy="4647321"/>
          </a:xfrm>
        </p:spPr>
        <p:txBody>
          <a:bodyPr/>
          <a:lstStyle>
            <a:lvl1pPr marL="0" indent="0">
              <a:buNone/>
              <a:defRPr>
                <a:solidFill>
                  <a:srgbClr val="5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>
                <a:solidFill>
                  <a:srgbClr val="5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None/>
              <a:defRPr>
                <a:solidFill>
                  <a:srgbClr val="5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None/>
              <a:defRPr>
                <a:solidFill>
                  <a:srgbClr val="500000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None/>
              <a:defRPr>
                <a:solidFill>
                  <a:srgbClr val="500000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7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2"/>
            <a:ext cx="10363200" cy="1362075"/>
          </a:xfrm>
        </p:spPr>
        <p:txBody>
          <a:bodyPr anchor="t">
            <a:normAutofit/>
          </a:bodyPr>
          <a:lstStyle>
            <a:lvl1pPr algn="l">
              <a:defRPr sz="3600" b="1" i="0" cap="none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3E3E3E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9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94022"/>
            <a:ext cx="5384800" cy="38321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94022"/>
            <a:ext cx="5384800" cy="38321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F9292DD-02A7-3919-DDAF-09FFBBBF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82318"/>
            <a:ext cx="10972800" cy="89364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955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82318"/>
            <a:ext cx="10972800" cy="89364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307098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46861"/>
            <a:ext cx="5386917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2307098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946861"/>
            <a:ext cx="5389033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7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SCwall.psd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938" y="208038"/>
            <a:ext cx="11672125" cy="6441925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060470" y="2093434"/>
            <a:ext cx="10071060" cy="2671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616" y="2970314"/>
            <a:ext cx="9192768" cy="1143000"/>
          </a:xfrm>
        </p:spPr>
        <p:txBody>
          <a:bodyPr>
            <a:normAutofit/>
          </a:bodyPr>
          <a:lstStyle>
            <a:lvl1pPr>
              <a:defRPr sz="3400" b="1" i="1">
                <a:solidFill>
                  <a:srgbClr val="500000"/>
                </a:solidFill>
                <a:latin typeface="Arial Narrow" panose="020B0604020202020204" pitchFamily="34" charset="0"/>
                <a:ea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21C72-20D3-3F48-DE78-93282C42CD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 flipV="1">
            <a:off x="-2967296" y="3299573"/>
            <a:ext cx="6463510" cy="258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27AEE4-929C-D189-5DD7-46F12F26E5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 flipV="1">
            <a:off x="8695786" y="3289723"/>
            <a:ext cx="6463510" cy="2588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37E76E-EE67-D306-ED2B-9D543E2241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41830" y="1661939"/>
            <a:ext cx="908339" cy="9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2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1" y="1285460"/>
            <a:ext cx="4011084" cy="104766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285461"/>
            <a:ext cx="6815667" cy="484070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1" y="2492188"/>
            <a:ext cx="4011084" cy="3633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6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311965"/>
            <a:ext cx="7315200" cy="341561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3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196535"/>
            <a:ext cx="10972800" cy="926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53006"/>
            <a:ext cx="10972800" cy="3873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C4CE51-D15A-BB47-9138-751D578D2580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8FB8FF-E84C-EC49-87A9-5C83013565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459" y="213662"/>
            <a:ext cx="11663082" cy="926298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DD9AB-EF41-CE9F-D3EB-9408AAD3CA8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0335" y="701811"/>
            <a:ext cx="113192" cy="5206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78E8D7-5CC6-0657-05BE-AA8775067F8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0335" y="152520"/>
            <a:ext cx="113192" cy="52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66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i="0" kern="1200">
          <a:solidFill>
            <a:srgbClr val="500000"/>
          </a:solidFill>
          <a:latin typeface="Arial Black" panose="020B0604020202020204" pitchFamily="34" charset="0"/>
          <a:ea typeface="Open Sans" panose="020B0606030504020204" pitchFamily="34" charset="0"/>
          <a:cs typeface="Arial Black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5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5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5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5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5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88557"/>
            <a:ext cx="10363200" cy="1562582"/>
          </a:xfrm>
        </p:spPr>
        <p:txBody>
          <a:bodyPr/>
          <a:lstStyle/>
          <a:p>
            <a:r>
              <a:rPr lang="en-US" sz="4400" dirty="0"/>
              <a:t>Context-aware Security Pipeline for Personal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91222"/>
            <a:ext cx="8534400" cy="1213042"/>
          </a:xfrm>
        </p:spPr>
        <p:txBody>
          <a:bodyPr anchor="ctr"/>
          <a:lstStyle/>
          <a:p>
            <a:r>
              <a:rPr lang="en-US" dirty="0"/>
              <a:t>Chia-Chiao Liu</a:t>
            </a:r>
          </a:p>
        </p:txBody>
      </p:sp>
    </p:spTree>
    <p:extLst>
      <p:ext uri="{BB962C8B-B14F-4D97-AF65-F5344CB8AC3E}">
        <p14:creationId xmlns:p14="http://schemas.microsoft.com/office/powerpoint/2010/main" val="135469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680D0-CC17-5F8B-4C06-5E8F847B4A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Introduction</a:t>
            </a:r>
          </a:p>
          <a:p>
            <a:r>
              <a:rPr lang="en-US" altLang="zh-TW" b="1" dirty="0"/>
              <a:t>Related Work</a:t>
            </a:r>
          </a:p>
          <a:p>
            <a:r>
              <a:rPr lang="en-US" altLang="zh-TW" b="1" dirty="0"/>
              <a:t>Problem Statement</a:t>
            </a:r>
          </a:p>
          <a:p>
            <a:r>
              <a:rPr lang="en-US" altLang="zh-TW" b="1" dirty="0"/>
              <a:t>Design Goals</a:t>
            </a:r>
          </a:p>
          <a:p>
            <a:r>
              <a:rPr lang="en-US" altLang="zh-TW" b="1" dirty="0"/>
              <a:t>System Overview</a:t>
            </a:r>
          </a:p>
          <a:p>
            <a:pPr lvl="1"/>
            <a:r>
              <a:rPr lang="en-US" altLang="zh-TW" dirty="0"/>
              <a:t>Data Plane</a:t>
            </a:r>
          </a:p>
          <a:p>
            <a:pPr lvl="1"/>
            <a:r>
              <a:rPr lang="en-US" altLang="zh-TW" dirty="0"/>
              <a:t>Control Plane</a:t>
            </a:r>
          </a:p>
          <a:p>
            <a:pPr lvl="1"/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FFCD62-6FD9-8A32-8D00-B6B188E32E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altLang="zh-TW" dirty="0"/>
              <a:t>Context Design</a:t>
            </a:r>
          </a:p>
          <a:p>
            <a:pPr lvl="1"/>
            <a:r>
              <a:rPr lang="en-US" altLang="zh-TW" dirty="0"/>
              <a:t>Rule Engine</a:t>
            </a:r>
          </a:p>
          <a:p>
            <a:pPr lvl="1"/>
            <a:r>
              <a:rPr lang="en-US" altLang="zh-TW" dirty="0"/>
              <a:t>Decision Model</a:t>
            </a:r>
          </a:p>
          <a:p>
            <a:pPr lvl="1"/>
            <a:r>
              <a:rPr lang="en-US" altLang="zh-TW" dirty="0"/>
              <a:t>Implementation</a:t>
            </a:r>
          </a:p>
          <a:p>
            <a:r>
              <a:rPr lang="en-US" altLang="zh-TW" b="1" dirty="0"/>
              <a:t>Evaluation</a:t>
            </a:r>
          </a:p>
          <a:p>
            <a:r>
              <a:rPr lang="en-US" altLang="zh-TW" b="1" dirty="0"/>
              <a:t>Discussion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FD63C4-297E-892F-5D08-C19F950B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85931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39762-E3CD-0DBA-5D0D-F3E9E197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Introduction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1D4532-5273-3103-C0F5-9F0B5C01C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57" y="1467269"/>
            <a:ext cx="11482086" cy="4647321"/>
          </a:xfrm>
        </p:spPr>
        <p:txBody>
          <a:bodyPr>
            <a:normAutofit fontScale="77500" lnSpcReduction="20000"/>
          </a:bodyPr>
          <a:lstStyle/>
          <a:p>
            <a:r>
              <a:rPr kumimoji="1" lang="en-US" altLang="zh-TW" dirty="0"/>
              <a:t>AI agents are evolving into autonomous systems that execute real-world actions through tools and OS interfaces.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LLM → Tool → OS (shell, file, network)</a:t>
            </a:r>
          </a:p>
          <a:p>
            <a:endParaRPr kumimoji="1" lang="en-US" altLang="zh-TW" dirty="0"/>
          </a:p>
          <a:p>
            <a:r>
              <a:rPr lang="en-US" altLang="zh-TW" b="1" dirty="0"/>
              <a:t>Key Challenge:</a:t>
            </a:r>
            <a:endParaRPr lang="en-US" altLang="zh-TW" dirty="0"/>
          </a:p>
          <a:p>
            <a:r>
              <a:rPr lang="en-US" altLang="zh-TW" dirty="0"/>
              <a:t>High-level intent → decomposed into </a:t>
            </a:r>
            <a:r>
              <a:rPr lang="en-US" altLang="zh-TW" b="1" dirty="0"/>
              <a:t>multi-step runtime actions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r>
              <a:rPr lang="en-US" altLang="zh-TW" dirty="0"/>
              <a:t>Behavior is: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context-dependent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dynamically generated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unpredictable at design time</a:t>
            </a:r>
          </a:p>
        </p:txBody>
      </p:sp>
    </p:spTree>
    <p:extLst>
      <p:ext uri="{BB962C8B-B14F-4D97-AF65-F5344CB8AC3E}">
        <p14:creationId xmlns:p14="http://schemas.microsoft.com/office/powerpoint/2010/main" val="359227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212EEC-BF4E-4063-015F-797E6433D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711650-BAAE-EBD1-037B-002E3D986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b="1" dirty="0"/>
              <a:t>Limitations of Existing Systems</a:t>
            </a:r>
            <a:endParaRPr lang="en-US" altLang="zh-TW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Observe only </a:t>
            </a:r>
            <a:r>
              <a:rPr lang="en-US" altLang="zh-TW" b="1" dirty="0"/>
              <a:t>low-level events</a:t>
            </a:r>
            <a:r>
              <a:rPr lang="en-US" altLang="zh-TW" dirty="0"/>
              <a:t> (</a:t>
            </a:r>
            <a:r>
              <a:rPr lang="en-US" altLang="zh-TW" dirty="0" err="1"/>
              <a:t>syscalls</a:t>
            </a:r>
            <a:r>
              <a:rPr lang="en-US" altLang="zh-TW" dirty="0"/>
              <a:t>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Rely on </a:t>
            </a:r>
            <a:r>
              <a:rPr lang="en-US" altLang="zh-TW" b="1" dirty="0"/>
              <a:t>static rules or per-event detection</a:t>
            </a:r>
            <a:r>
              <a:rPr lang="en-US" altLang="zh-TW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Cannot capture </a:t>
            </a:r>
            <a:r>
              <a:rPr lang="en-US" altLang="zh-TW" b="1" dirty="0"/>
              <a:t>cross-step semantics</a:t>
            </a:r>
            <a:r>
              <a:rPr lang="en-US" altLang="zh-TW" dirty="0"/>
              <a:t> </a:t>
            </a:r>
          </a:p>
          <a:p>
            <a:br>
              <a:rPr lang="en-US" altLang="zh-TW" dirty="0"/>
            </a:br>
            <a:endParaRPr lang="en-US" altLang="zh-TW" dirty="0"/>
          </a:p>
          <a:p>
            <a:r>
              <a:rPr lang="en-US" altLang="zh-TW" b="1" dirty="0"/>
              <a:t>Personal AI Agent Setting (Critical Case)</a:t>
            </a:r>
            <a:endParaRPr lang="en-US" altLang="zh-TW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Broad permissions (file, network, system tools)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Open-ended, user-driven tasks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No fixed workflow → </a:t>
            </a:r>
            <a:r>
              <a:rPr lang="en-US" altLang="zh-TW" b="1" dirty="0"/>
              <a:t>policies cannot be predefined</a:t>
            </a:r>
            <a:r>
              <a:rPr lang="en-US" altLang="zh-TW" dirty="0"/>
              <a:t> </a:t>
            </a:r>
          </a:p>
          <a:p>
            <a:br>
              <a:rPr lang="en-US" altLang="zh-TW" dirty="0"/>
            </a:br>
            <a:endParaRPr lang="en-US" altLang="zh-TW" dirty="0"/>
          </a:p>
          <a:p>
            <a:r>
              <a:rPr lang="en-US" altLang="zh-TW" b="1" dirty="0"/>
              <a:t>Core Problem: Semantic Gap</a:t>
            </a:r>
            <a:br>
              <a:rPr lang="en-US" altLang="zh-TW" dirty="0"/>
            </a:br>
            <a:r>
              <a:rPr lang="en-US" altLang="zh-TW" dirty="0"/>
              <a:t>System-level signals ≠ agent-level intent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4284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E7C8B2-3621-5DD6-0B97-34939E89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38AF2B0-A818-9274-96A6-49ACE92C8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7650" y="2012156"/>
            <a:ext cx="91567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76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E3E37D-770C-BB65-BC84-C8DE079A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Related Work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CDF5B5-7D4D-909E-4C6E-73EF091FC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544" y="1446836"/>
            <a:ext cx="10860911" cy="4934573"/>
          </a:xfrm>
        </p:spPr>
        <p:txBody>
          <a:bodyPr>
            <a:normAutofit/>
          </a:bodyPr>
          <a:lstStyle/>
          <a:p>
            <a:r>
              <a:rPr lang="en-US" altLang="zh-TW" sz="2800" b="1" dirty="0"/>
              <a:t>System-level Runtime Security</a:t>
            </a:r>
            <a:r>
              <a:rPr lang="en-US" altLang="zh-TW" sz="2800" dirty="0"/>
              <a:t>: </a:t>
            </a:r>
            <a:r>
              <a:rPr lang="en-US" altLang="zh-TW" sz="2800" b="1" dirty="0"/>
              <a:t>Falco / Tetragon</a:t>
            </a:r>
            <a:r>
              <a:rPr lang="en-US" altLang="zh-TW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Monitor system calls and kernel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Rule-based detection on individual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Limited cross-event context </a:t>
            </a:r>
            <a:br>
              <a:rPr lang="en-US" altLang="zh-TW" sz="2800" dirty="0"/>
            </a:br>
            <a:endParaRPr lang="en-US" altLang="zh-TW" sz="2800" dirty="0"/>
          </a:p>
          <a:p>
            <a:r>
              <a:rPr lang="en-US" altLang="zh-TW" sz="2800" b="1" dirty="0"/>
              <a:t>LLM / Agent Security</a:t>
            </a: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Focus on prompt injection, tool misuse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Analyze behavior at semantic or application level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Lack visibility into system-level execution</a:t>
            </a:r>
          </a:p>
        </p:txBody>
      </p:sp>
    </p:spTree>
    <p:extLst>
      <p:ext uri="{BB962C8B-B14F-4D97-AF65-F5344CB8AC3E}">
        <p14:creationId xmlns:p14="http://schemas.microsoft.com/office/powerpoint/2010/main" val="3086075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1EA5B8-46C6-97BD-977E-E4185E66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FAD21B-3D88-6AB9-F318-E4627D43D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Key Limitation</a:t>
            </a:r>
          </a:p>
          <a:p>
            <a:r>
              <a:rPr lang="en-US" altLang="zh-TW" dirty="0"/>
              <a:t>Existing approaches either operate at low-level without context, or high-level without system visibility.</a:t>
            </a:r>
          </a:p>
          <a:p>
            <a:endParaRPr lang="en-US" altLang="zh-TW" b="1" dirty="0"/>
          </a:p>
          <a:p>
            <a:r>
              <a:rPr lang="en-US" altLang="zh-TW" b="1" dirty="0"/>
              <a:t>Gap</a:t>
            </a:r>
          </a:p>
          <a:p>
            <a:r>
              <a:rPr lang="en-US" altLang="zh-TW" dirty="0"/>
              <a:t>No solution bridges system-level observability and agent-level semantics</a:t>
            </a:r>
            <a:r>
              <a:rPr kumimoji="1" lang="en-US" altLang="zh-TW" dirty="0"/>
              <a:t>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41705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F1D283-FC3E-1636-6F93-632F411E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 Statement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82F0-3C42-2A84-F652-B57645093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2400" b="1" dirty="0"/>
              <a:t>Goal:</a:t>
            </a:r>
            <a:br>
              <a:rPr lang="en-US" altLang="zh-TW" sz="2400" dirty="0"/>
            </a:br>
            <a:r>
              <a:rPr lang="en-US" altLang="zh-TW" sz="2400" dirty="0"/>
              <a:t>Bridge the semantic gap between system-level signals and agent-level intent.</a:t>
            </a:r>
            <a:br>
              <a:rPr lang="en-US" altLang="zh-TW" sz="2400" dirty="0"/>
            </a:br>
            <a:endParaRPr lang="en-US" altLang="zh-TW" sz="2400" dirty="0"/>
          </a:p>
          <a:p>
            <a:r>
              <a:rPr lang="en-US" altLang="zh-TW" sz="2400" b="1" dirty="0"/>
              <a:t>Key Challenges</a:t>
            </a:r>
            <a:endParaRPr lang="en-US" altLang="zh-TW" sz="2400" dirty="0"/>
          </a:p>
          <a:p>
            <a:r>
              <a:rPr lang="en-US" altLang="zh-TW" sz="2400" b="1" dirty="0"/>
              <a:t>Fragmented Observations: </a:t>
            </a:r>
            <a:r>
              <a:rPr lang="en-US" altLang="zh-TW" sz="2400" dirty="0"/>
              <a:t>System events are low-level and isolated </a:t>
            </a:r>
          </a:p>
          <a:p>
            <a:r>
              <a:rPr lang="en-US" altLang="zh-TW" sz="2400" b="1" dirty="0"/>
              <a:t>Lack of Context: </a:t>
            </a:r>
            <a:r>
              <a:rPr lang="en-US" altLang="zh-TW" sz="2400" dirty="0"/>
              <a:t>No visibility across processes, time, and execution chains </a:t>
            </a:r>
          </a:p>
          <a:p>
            <a:r>
              <a:rPr lang="en-US" altLang="zh-TW" sz="2400" b="1" dirty="0"/>
              <a:t>Static Detection Models: </a:t>
            </a:r>
            <a:r>
              <a:rPr lang="en-US" altLang="zh-TW" sz="2400" dirty="0"/>
              <a:t>Rules operate on individual events, not behavior sequences </a:t>
            </a:r>
          </a:p>
          <a:p>
            <a:r>
              <a:rPr lang="en-US" altLang="zh-TW" sz="2400" b="1" dirty="0"/>
              <a:t>Dynamic Agent Behavior: </a:t>
            </a:r>
            <a:r>
              <a:rPr lang="en-US" altLang="zh-TW" sz="2400" dirty="0"/>
              <a:t>Execution is non-deterministic and task-dependent </a:t>
            </a:r>
          </a:p>
          <a:p>
            <a:endParaRPr lang="en-US" altLang="zh-TW" sz="2400" dirty="0"/>
          </a:p>
          <a:p>
            <a:r>
              <a:rPr lang="en-US" altLang="zh-TW" sz="2400" b="1" dirty="0"/>
              <a:t>Result</a:t>
            </a:r>
            <a:endParaRPr lang="en-US" altLang="zh-TW" sz="2400" dirty="0"/>
          </a:p>
          <a:p>
            <a:r>
              <a:rPr lang="en-US" altLang="zh-TW" sz="2400" dirty="0"/>
              <a:t>Security systems cannot reliably distinguish benign automation from malicious behavior.</a:t>
            </a:r>
          </a:p>
        </p:txBody>
      </p:sp>
    </p:spTree>
    <p:extLst>
      <p:ext uri="{BB962C8B-B14F-4D97-AF65-F5344CB8AC3E}">
        <p14:creationId xmlns:p14="http://schemas.microsoft.com/office/powerpoint/2010/main" val="4183813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811BC3-DFAA-8ACE-1584-8BDC310F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 Goals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4FDCE-4293-79E3-B431-5D1C78DF4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TW" b="1" dirty="0"/>
              <a:t>1. Context-aware</a:t>
            </a:r>
          </a:p>
          <a:p>
            <a:r>
              <a:rPr kumimoji="1" lang="en-US" altLang="zh-TW" dirty="0"/>
              <a:t>   - Capture relationships across events, processes, and time</a:t>
            </a:r>
          </a:p>
          <a:p>
            <a:endParaRPr kumimoji="1" lang="en-US" altLang="zh-TW" dirty="0"/>
          </a:p>
          <a:p>
            <a:r>
              <a:rPr kumimoji="1" lang="en-US" altLang="zh-TW" b="1" dirty="0"/>
              <a:t>2. Programmable</a:t>
            </a:r>
          </a:p>
          <a:p>
            <a:r>
              <a:rPr kumimoji="1" lang="en-US" altLang="zh-TW" dirty="0"/>
              <a:t>   - Enable flexible and composable security policies</a:t>
            </a:r>
          </a:p>
          <a:p>
            <a:endParaRPr kumimoji="1" lang="en-US" altLang="zh-TW" dirty="0"/>
          </a:p>
          <a:p>
            <a:r>
              <a:rPr kumimoji="1" lang="en-US" altLang="zh-TW" b="1" dirty="0"/>
              <a:t>3. Non-invasive</a:t>
            </a:r>
          </a:p>
          <a:p>
            <a:r>
              <a:rPr kumimoji="1" lang="en-US" altLang="zh-TW" dirty="0"/>
              <a:t>   - Require no modification to the AI agent</a:t>
            </a:r>
          </a:p>
          <a:p>
            <a:endParaRPr kumimoji="1" lang="en-US" altLang="zh-TW" dirty="0"/>
          </a:p>
          <a:p>
            <a:r>
              <a:rPr kumimoji="1" lang="en-US" altLang="zh-TW" b="1" dirty="0"/>
              <a:t>4. Lightweight</a:t>
            </a:r>
          </a:p>
          <a:p>
            <a:r>
              <a:rPr kumimoji="1" lang="en-US" altLang="zh-TW" dirty="0"/>
              <a:t>   - Leverage </a:t>
            </a:r>
            <a:r>
              <a:rPr kumimoji="1" lang="en-US" altLang="zh-TW" dirty="0" err="1"/>
              <a:t>eBPF</a:t>
            </a:r>
            <a:r>
              <a:rPr kumimoji="1" lang="en-US" altLang="zh-TW" dirty="0"/>
              <a:t> for efficient runtime monitoring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057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484254-3180-1A25-B9ED-C3CFEDC5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Overview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D6A5E7-6BA5-B68D-EB5B-205C25E10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en-US" altLang="zh-TW" dirty="0"/>
              <a:t>A context-aware security pipeline that transforms low-level system events into structured behavioral context for AI agents.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The system is organized into two planes:</a:t>
            </a:r>
          </a:p>
          <a:p>
            <a:endParaRPr kumimoji="1" lang="en-US" altLang="zh-TW" dirty="0"/>
          </a:p>
          <a:p>
            <a:r>
              <a:rPr kumimoji="1" lang="en-US" altLang="zh-TW" b="1" dirty="0"/>
              <a:t>• Data Plane: </a:t>
            </a:r>
            <a:r>
              <a:rPr kumimoji="1" lang="en-US" altLang="zh-TW" dirty="0"/>
              <a:t>captures runtime signals from the kernel</a:t>
            </a:r>
          </a:p>
          <a:p>
            <a:r>
              <a:rPr kumimoji="1" lang="en-US" altLang="zh-TW" b="1" dirty="0"/>
              <a:t>• Control Plane: </a:t>
            </a:r>
            <a:r>
              <a:rPr kumimoji="1" lang="en-US" altLang="zh-TW" dirty="0"/>
              <a:t>reconstructs context and performs security analysis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Events → Sessions → Context → Rules → Decision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5894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F75677-2932-B083-7188-661CFA8D1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Plane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F99D2F-943E-187B-96B3-1F6D49005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b="1" dirty="0"/>
              <a:t>Event Stream (via </a:t>
            </a:r>
            <a:r>
              <a:rPr lang="en-US" altLang="zh-TW" b="1" dirty="0" err="1"/>
              <a:t>eBPF</a:t>
            </a:r>
            <a:r>
              <a:rPr lang="en-US" altLang="zh-TW" b="1" dirty="0"/>
              <a:t>)</a:t>
            </a:r>
            <a:endParaRPr lang="en-US" altLang="zh-TW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 err="1"/>
              <a:t>execve</a:t>
            </a:r>
            <a:r>
              <a:rPr lang="en-US" altLang="zh-TW" dirty="0"/>
              <a:t> — process execution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 err="1"/>
              <a:t>openat</a:t>
            </a:r>
            <a:r>
              <a:rPr lang="en-US" altLang="zh-TW" dirty="0"/>
              <a:t> — file access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connect — network activity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exit — process termination </a:t>
            </a:r>
          </a:p>
          <a:p>
            <a:br>
              <a:rPr lang="en-US" altLang="zh-TW" dirty="0"/>
            </a:br>
            <a:endParaRPr lang="en-US" altLang="zh-TW" dirty="0"/>
          </a:p>
          <a:p>
            <a:r>
              <a:rPr lang="en-US" altLang="zh-TW" b="1" dirty="0"/>
              <a:t>Process State (via /proc)</a:t>
            </a:r>
            <a:endParaRPr lang="en-US" altLang="zh-TW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 err="1"/>
              <a:t>CapEff</a:t>
            </a:r>
            <a:r>
              <a:rPr lang="en-US" altLang="zh-TW" dirty="0"/>
              <a:t> (effective capabilities)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/>
              <a:t>seccomp mode </a:t>
            </a:r>
          </a:p>
          <a:p>
            <a:br>
              <a:rPr lang="en-US" altLang="zh-TW" dirty="0"/>
            </a:br>
            <a:r>
              <a:rPr lang="en-US" altLang="zh-TW" dirty="0"/>
              <a:t>Provides raw signals without security semantics.</a:t>
            </a:r>
          </a:p>
        </p:txBody>
      </p:sp>
      <p:pic>
        <p:nvPicPr>
          <p:cNvPr id="5" name="圖片 4" descr="一張含有 螢幕擷取畫面, 文字, 字型, 數字 的圖片&#10;&#10;AI 產生的內容可能不正確。">
            <a:extLst>
              <a:ext uri="{FF2B5EF4-FFF2-40B4-BE49-F238E27FC236}">
                <a16:creationId xmlns:a16="http://schemas.microsoft.com/office/drawing/2014/main" id="{15C00CE4-E370-2ED8-5934-87515C880E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4588" y="1478844"/>
            <a:ext cx="6095999" cy="373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03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3F651-2BDA-2612-3222-5705824D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Plane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2A1CF7-818E-22B1-3285-4D2A54EDD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sz="1400" b="1" dirty="0"/>
              <a:t>1. Event Tracking</a:t>
            </a:r>
            <a:endParaRPr lang="en-US" altLang="zh-TW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Normalize incoming events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Track process relationships </a:t>
            </a:r>
          </a:p>
          <a:p>
            <a:br>
              <a:rPr lang="en-US" altLang="zh-TW" sz="1400" dirty="0"/>
            </a:br>
            <a:endParaRPr lang="en-US" altLang="zh-TW" sz="1400" dirty="0"/>
          </a:p>
          <a:p>
            <a:r>
              <a:rPr lang="en-US" altLang="zh-TW" sz="1400" b="1" dirty="0"/>
              <a:t>2. Session Construction</a:t>
            </a:r>
            <a:endParaRPr lang="en-US" altLang="zh-TW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Group related processes and events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Build execution lineage </a:t>
            </a:r>
          </a:p>
          <a:p>
            <a:br>
              <a:rPr lang="en-US" altLang="zh-TW" sz="1400" dirty="0"/>
            </a:br>
            <a:endParaRPr lang="en-US" altLang="zh-TW" sz="1400" dirty="0"/>
          </a:p>
          <a:p>
            <a:r>
              <a:rPr lang="en-US" altLang="zh-TW" sz="1400" b="1" dirty="0"/>
              <a:t>3. Context Management</a:t>
            </a:r>
            <a:endParaRPr lang="en-US" altLang="zh-TW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Store session state (Context Store)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Derive structured context (Context Builder) </a:t>
            </a:r>
          </a:p>
          <a:p>
            <a:br>
              <a:rPr lang="en-US" altLang="zh-TW" sz="1400" dirty="0"/>
            </a:br>
            <a:endParaRPr lang="en-US" altLang="zh-TW" sz="1400" dirty="0"/>
          </a:p>
          <a:p>
            <a:r>
              <a:rPr lang="en-US" altLang="zh-TW" sz="1400" b="1" dirty="0"/>
              <a:t>4. Rule Evaluation</a:t>
            </a:r>
            <a:endParaRPr lang="en-US" altLang="zh-TW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Evaluate context using programmable rules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Compute risk scores </a:t>
            </a:r>
          </a:p>
          <a:p>
            <a:br>
              <a:rPr lang="en-US" altLang="zh-TW" sz="1400" dirty="0"/>
            </a:br>
            <a:endParaRPr lang="en-US" altLang="zh-TW" sz="1400" dirty="0"/>
          </a:p>
          <a:p>
            <a:r>
              <a:rPr lang="en-US" altLang="zh-TW" sz="1400" b="1" dirty="0"/>
              <a:t>5. Decision &amp; Output</a:t>
            </a:r>
            <a:endParaRPr lang="en-US" altLang="zh-TW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Map scores to actions: IGNORE / LOG / ALERT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Output via logging and alerting</a:t>
            </a:r>
          </a:p>
        </p:txBody>
      </p:sp>
      <p:pic>
        <p:nvPicPr>
          <p:cNvPr id="5" name="圖片 4" descr="一張含有 螢幕擷取畫面, 文字, 字型, 數字 的圖片&#10;&#10;AI 產生的內容可能不正確。">
            <a:extLst>
              <a:ext uri="{FF2B5EF4-FFF2-40B4-BE49-F238E27FC236}">
                <a16:creationId xmlns:a16="http://schemas.microsoft.com/office/drawing/2014/main" id="{D4AC1A3F-556D-E700-D68C-A35B9795386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9159" y="1703872"/>
            <a:ext cx="6682451" cy="409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91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1B7365-ADEC-61CB-CC2C-4A59FA3E13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31090"/>
            <a:ext cx="5384800" cy="47950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sz="2400" b="1" dirty="0"/>
              <a:t>Execution Context</a:t>
            </a:r>
          </a:p>
          <a:p>
            <a:pPr marL="0" indent="0">
              <a:buNone/>
            </a:pPr>
            <a:r>
              <a:rPr lang="en-US" altLang="zh-TW" sz="2400" dirty="0"/>
              <a:t>Captures </a:t>
            </a:r>
            <a:r>
              <a:rPr lang="en-US" altLang="zh-TW" sz="2400" i="1" dirty="0"/>
              <a:t>how a process is executed</a:t>
            </a:r>
            <a:endParaRPr lang="en-US" altLang="zh-TW" sz="2400" dirty="0"/>
          </a:p>
          <a:p>
            <a:r>
              <a:rPr lang="en-US" altLang="zh-TW" sz="2400" dirty="0" err="1"/>
              <a:t>suspicious_path_exec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 err="1"/>
              <a:t>deep_chain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 err="1"/>
              <a:t>shell_in_chain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 err="1"/>
              <a:t>interpreter_in_chain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 err="1"/>
              <a:t>container_runtime_in_chain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 err="1"/>
              <a:t>memfd_or_deleted_exec</a:t>
            </a:r>
            <a:r>
              <a:rPr lang="en-US" altLang="zh-TW" sz="2400" dirty="0"/>
              <a:t> </a:t>
            </a:r>
          </a:p>
          <a:p>
            <a:pPr marL="0" indent="0">
              <a:buNone/>
            </a:pPr>
            <a:br>
              <a:rPr lang="en-US" altLang="zh-TW" sz="2400" dirty="0"/>
            </a:br>
            <a:endParaRPr lang="en-US" altLang="zh-TW" sz="2400" dirty="0"/>
          </a:p>
          <a:p>
            <a:pPr marL="0" indent="0">
              <a:buNone/>
            </a:pPr>
            <a:r>
              <a:rPr lang="en-US" altLang="zh-TW" sz="2400" b="1" dirty="0"/>
              <a:t>Capability Context</a:t>
            </a:r>
          </a:p>
          <a:p>
            <a:pPr marL="0" indent="0">
              <a:buNone/>
            </a:pPr>
            <a:r>
              <a:rPr lang="en-US" altLang="zh-TW" sz="2400" dirty="0"/>
              <a:t>Captures </a:t>
            </a:r>
            <a:r>
              <a:rPr lang="en-US" altLang="zh-TW" sz="2400" i="1" dirty="0"/>
              <a:t>what a process is allowed to do</a:t>
            </a:r>
            <a:endParaRPr lang="en-US" altLang="zh-TW" sz="2400" dirty="0"/>
          </a:p>
          <a:p>
            <a:r>
              <a:rPr lang="en-US" altLang="zh-TW" sz="2400" dirty="0" err="1"/>
              <a:t>has_dangerous_caps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 err="1"/>
              <a:t>seccomp_disabled</a:t>
            </a:r>
            <a:endParaRPr lang="en-US" altLang="zh-TW" sz="240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FE43D4-9DCF-64E7-31BD-88ADF1979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331090"/>
            <a:ext cx="5384800" cy="47950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b="1" dirty="0"/>
              <a:t>Historical Context</a:t>
            </a:r>
          </a:p>
          <a:p>
            <a:pPr marL="0" indent="0">
              <a:buNone/>
            </a:pPr>
            <a:r>
              <a:rPr lang="en-US" altLang="zh-TW" dirty="0"/>
              <a:t>Captures </a:t>
            </a:r>
            <a:r>
              <a:rPr lang="en-US" altLang="zh-TW" i="1" dirty="0"/>
              <a:t>what the process has done over time</a:t>
            </a:r>
            <a:endParaRPr lang="en-US" altLang="zh-TW" dirty="0"/>
          </a:p>
          <a:p>
            <a:r>
              <a:rPr lang="en-US" altLang="zh-TW" dirty="0" err="1"/>
              <a:t>connect_then_exec</a:t>
            </a:r>
            <a:r>
              <a:rPr lang="en-US" altLang="zh-TW" dirty="0"/>
              <a:t> </a:t>
            </a:r>
          </a:p>
          <a:p>
            <a:r>
              <a:rPr lang="en-US" altLang="zh-TW" dirty="0" err="1"/>
              <a:t>sensitive_then_network</a:t>
            </a:r>
            <a:r>
              <a:rPr lang="en-US" altLang="zh-TW" dirty="0"/>
              <a:t> </a:t>
            </a:r>
          </a:p>
          <a:p>
            <a:r>
              <a:rPr lang="en-US" altLang="zh-TW" dirty="0" err="1"/>
              <a:t>sensitive_then_execve</a:t>
            </a:r>
            <a:r>
              <a:rPr lang="en-US" altLang="zh-TW" dirty="0"/>
              <a:t> </a:t>
            </a:r>
          </a:p>
          <a:p>
            <a:r>
              <a:rPr lang="en-US" altLang="zh-TW" dirty="0" err="1"/>
              <a:t>burst_connect</a:t>
            </a:r>
            <a:r>
              <a:rPr lang="en-US" altLang="zh-TW" dirty="0"/>
              <a:t> / </a:t>
            </a:r>
            <a:r>
              <a:rPr lang="en-US" altLang="zh-TW" dirty="0" err="1"/>
              <a:t>burst_exec</a:t>
            </a:r>
            <a:r>
              <a:rPr lang="en-US" altLang="zh-TW" dirty="0"/>
              <a:t> </a:t>
            </a:r>
          </a:p>
          <a:p>
            <a:r>
              <a:rPr lang="en-US" altLang="zh-TW" dirty="0" err="1"/>
              <a:t>unique_open_path_count</a:t>
            </a:r>
            <a:r>
              <a:rPr lang="en-US" altLang="zh-TW" dirty="0"/>
              <a:t> </a:t>
            </a:r>
          </a:p>
          <a:p>
            <a:br>
              <a:rPr lang="en-US" altLang="zh-TW" dirty="0"/>
            </a:b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File Context</a:t>
            </a:r>
          </a:p>
          <a:p>
            <a:pPr marL="0" indent="0">
              <a:buNone/>
            </a:pPr>
            <a:r>
              <a:rPr lang="en-US" altLang="zh-TW" dirty="0"/>
              <a:t>Captures </a:t>
            </a:r>
            <a:r>
              <a:rPr lang="en-US" altLang="zh-TW" i="1" dirty="0"/>
              <a:t>file-related behaviors</a:t>
            </a:r>
            <a:endParaRPr lang="en-US" altLang="zh-TW" dirty="0"/>
          </a:p>
          <a:p>
            <a:r>
              <a:rPr lang="en-US" altLang="zh-TW" dirty="0" err="1"/>
              <a:t>write_then_exec_same_path</a:t>
            </a:r>
            <a:r>
              <a:rPr lang="en-US" altLang="zh-TW" dirty="0"/>
              <a:t> </a:t>
            </a:r>
          </a:p>
          <a:p>
            <a:r>
              <a:rPr lang="en-US" altLang="zh-TW" dirty="0" err="1"/>
              <a:t>opened_deleted_path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D31655B0-09F8-EB53-4E7E-B69518A0EE44}"/>
              </a:ext>
            </a:extLst>
          </p:cNvPr>
          <p:cNvSpPr txBox="1">
            <a:spLocks/>
          </p:cNvSpPr>
          <p:nvPr/>
        </p:nvSpPr>
        <p:spPr>
          <a:xfrm>
            <a:off x="1225485" y="245097"/>
            <a:ext cx="6800915" cy="923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rgbClr val="500000"/>
                </a:solidFill>
                <a:latin typeface="Arial Black" panose="020B0604020202020204" pitchFamily="34" charset="0"/>
                <a:ea typeface="Open Sans" panose="020B0606030504020204" pitchFamily="34" charset="0"/>
                <a:cs typeface="Arial Black" panose="020B0604020202020204" pitchFamily="34" charset="0"/>
              </a:defRPr>
            </a:lvl1pPr>
          </a:lstStyle>
          <a:p>
            <a:pPr algn="l"/>
            <a:r>
              <a:rPr lang="en-US" altLang="zh-TW" sz="2800" dirty="0">
                <a:solidFill>
                  <a:schemeClr val="bg1"/>
                </a:solidFill>
              </a:rPr>
              <a:t>Context Design</a:t>
            </a:r>
            <a:endParaRPr kumimoji="1" lang="zh-TW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94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777B7F-17E6-F223-84BD-35C61A44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Rule Engine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21A7BD-F58B-E484-2DB5-C3257267F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78845"/>
            <a:ext cx="10972799" cy="3139454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zh-TW" dirty="0"/>
              <a:t>A programmable, score-based rule engine.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• Rules operate on context (not raw events)</a:t>
            </a:r>
          </a:p>
          <a:p>
            <a:r>
              <a:rPr kumimoji="1" lang="en-US" altLang="zh-TW" dirty="0"/>
              <a:t>• Each rule defines:</a:t>
            </a:r>
          </a:p>
          <a:p>
            <a:r>
              <a:rPr kumimoji="1" lang="en-US" altLang="zh-TW" dirty="0"/>
              <a:t>  - condition (feature expression)</a:t>
            </a:r>
          </a:p>
          <a:p>
            <a:r>
              <a:rPr kumimoji="1" lang="en-US" altLang="zh-TW" dirty="0"/>
              <a:t>  - weight (risk contribution)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• Supports CEL-based expressions</a:t>
            </a:r>
          </a:p>
          <a:p>
            <a:r>
              <a:rPr kumimoji="1" lang="en-US" altLang="zh-TW" dirty="0"/>
              <a:t>• Rules are externally configurable and reloadable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53389E-8858-6CFD-EFB0-0F0A2DBBE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4722920"/>
            <a:ext cx="7772400" cy="168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96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185541-BBB4-E5F4-5715-745971E6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Decision Model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F4E50F-6B71-2C4A-721E-5D6204555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altLang="zh-TW" dirty="0"/>
              <a:t>The system aggregates rule matches into a risk score.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Risk(s) = </a:t>
            </a:r>
            <a:r>
              <a:rPr kumimoji="1" lang="el-GR" altLang="zh-TW" dirty="0"/>
              <a:t>Σ (</a:t>
            </a:r>
            <a:r>
              <a:rPr kumimoji="1" lang="en-US" altLang="zh-TW" dirty="0"/>
              <a:t>matched feature weights)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Decision thresholds:</a:t>
            </a:r>
          </a:p>
          <a:p>
            <a:r>
              <a:rPr kumimoji="1" lang="en-US" altLang="zh-TW" dirty="0"/>
              <a:t>• IGNORE</a:t>
            </a:r>
          </a:p>
          <a:p>
            <a:r>
              <a:rPr kumimoji="1" lang="en-US" altLang="zh-TW" dirty="0"/>
              <a:t>• LOG</a:t>
            </a:r>
          </a:p>
          <a:p>
            <a:r>
              <a:rPr kumimoji="1" lang="en-US" altLang="zh-TW" dirty="0"/>
              <a:t>• ALERT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Properties:</a:t>
            </a:r>
          </a:p>
          <a:p>
            <a:r>
              <a:rPr kumimoji="1" lang="en-US" altLang="zh-TW" dirty="0"/>
              <a:t>• incremental (score evolves over time)</a:t>
            </a:r>
          </a:p>
          <a:p>
            <a:r>
              <a:rPr kumimoji="1" lang="en-US" altLang="zh-TW" dirty="0"/>
              <a:t>• explainable (records triggered rules)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13FDF2-1189-EE2F-6C5B-B56FF461F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234" y="3654119"/>
            <a:ext cx="9217929" cy="119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46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F972D1-41D6-82A2-600F-F188B0FF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227DEE-B045-BC48-942B-280972BEE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78844"/>
            <a:ext cx="10972799" cy="4910381"/>
          </a:xfrm>
        </p:spPr>
        <p:txBody>
          <a:bodyPr>
            <a:normAutofit fontScale="62500" lnSpcReduction="20000"/>
          </a:bodyPr>
          <a:lstStyle/>
          <a:p>
            <a:r>
              <a:rPr kumimoji="1" lang="en-US" altLang="zh-TW" dirty="0"/>
              <a:t>Kernel space:</a:t>
            </a:r>
          </a:p>
          <a:p>
            <a:r>
              <a:rPr kumimoji="1" lang="en-US" altLang="zh-TW" dirty="0"/>
              <a:t>• </a:t>
            </a:r>
            <a:r>
              <a:rPr kumimoji="1" lang="en-US" altLang="zh-TW" dirty="0" err="1"/>
              <a:t>eBPF</a:t>
            </a:r>
            <a:r>
              <a:rPr kumimoji="1" lang="en-US" altLang="zh-TW" dirty="0"/>
              <a:t> probes for event capture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User space:</a:t>
            </a:r>
          </a:p>
          <a:p>
            <a:r>
              <a:rPr kumimoji="1" lang="en-US" altLang="zh-TW" dirty="0"/>
              <a:t>• Go-based pipeline</a:t>
            </a:r>
          </a:p>
          <a:p>
            <a:r>
              <a:rPr kumimoji="1" lang="en-US" altLang="zh-TW" dirty="0"/>
              <a:t>• session tracking and context reconstruction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Policy:</a:t>
            </a:r>
          </a:p>
          <a:p>
            <a:r>
              <a:rPr kumimoji="1" lang="en-US" altLang="zh-TW" dirty="0"/>
              <a:t>• JSON-based rule configuration </a:t>
            </a:r>
          </a:p>
          <a:p>
            <a:r>
              <a:rPr kumimoji="1" lang="en-US" altLang="zh-TW" dirty="0"/>
              <a:t>• supporting CEL expression</a:t>
            </a:r>
          </a:p>
          <a:p>
            <a:r>
              <a:rPr kumimoji="1" lang="en-US" altLang="zh-TW" dirty="0"/>
              <a:t>• dynamic reload (SIGHUP)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Output:</a:t>
            </a:r>
          </a:p>
          <a:p>
            <a:r>
              <a:rPr kumimoji="1" lang="en-US" altLang="zh-TW" dirty="0"/>
              <a:t>• structured JSONL logs</a:t>
            </a:r>
          </a:p>
          <a:p>
            <a:r>
              <a:rPr kumimoji="1" lang="en-US" altLang="zh-TW" dirty="0"/>
              <a:t>• separate audit and alert streams</a:t>
            </a:r>
          </a:p>
          <a:p>
            <a:endParaRPr kumimoji="1" lang="zh-TW" altLang="en-US" dirty="0"/>
          </a:p>
        </p:txBody>
      </p:sp>
      <p:pic>
        <p:nvPicPr>
          <p:cNvPr id="5122" name="Picture 2" descr="What Is eBPF? The Ultimate Guide - The New Stack">
            <a:extLst>
              <a:ext uri="{FF2B5EF4-FFF2-40B4-BE49-F238E27FC236}">
                <a16:creationId xmlns:a16="http://schemas.microsoft.com/office/drawing/2014/main" id="{2F54E65A-F7D5-4077-DFBA-5A3B693D4011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039" r="24039"/>
          <a:stretch>
            <a:fillRect/>
          </a:stretch>
        </p:blipFill>
        <p:spPr bwMode="auto">
          <a:xfrm>
            <a:off x="8453433" y="1478844"/>
            <a:ext cx="1274400" cy="127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Learning Golang in 24 hours | Kislay Verma">
            <a:extLst>
              <a:ext uri="{FF2B5EF4-FFF2-40B4-BE49-F238E27FC236}">
                <a16:creationId xmlns:a16="http://schemas.microsoft.com/office/drawing/2014/main" id="{3A54E1B6-1595-D6FB-9B4A-1A82C72568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72684" y="3168230"/>
            <a:ext cx="1235899" cy="123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GitHub - google/cel-spec: Common Expression Language -- specification and  binary representation · GitHub">
            <a:extLst>
              <a:ext uri="{FF2B5EF4-FFF2-40B4-BE49-F238E27FC236}">
                <a16:creationId xmlns:a16="http://schemas.microsoft.com/office/drawing/2014/main" id="{A54DF829-0A88-90FD-D4CE-C7263BD94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0" y="4818686"/>
            <a:ext cx="2128467" cy="106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147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5C0587-0F55-C30F-05C5-5F3574BB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Evaluation - Overview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1DD859-D82F-1E78-AF85-BD023340A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400" dirty="0"/>
              <a:t>We evaluate the system along three dimensions:</a:t>
            </a:r>
          </a:p>
          <a:p>
            <a:endParaRPr kumimoji="1" lang="en-US" altLang="zh-TW" sz="2400" dirty="0"/>
          </a:p>
          <a:p>
            <a:r>
              <a:rPr kumimoji="1" lang="en-US" altLang="zh-TW" sz="2400" dirty="0"/>
              <a:t>1. Detection Capability</a:t>
            </a:r>
          </a:p>
          <a:p>
            <a:r>
              <a:rPr kumimoji="1" lang="en-US" altLang="zh-TW" sz="2400" dirty="0"/>
              <a:t>   • Can it capture multi-step agent behaviors?</a:t>
            </a:r>
          </a:p>
          <a:p>
            <a:endParaRPr kumimoji="1" lang="en-US" altLang="zh-TW" sz="2400" dirty="0"/>
          </a:p>
          <a:p>
            <a:r>
              <a:rPr kumimoji="1" lang="en-US" altLang="zh-TW" sz="2400" dirty="0"/>
              <a:t>2. Engineering Impact</a:t>
            </a:r>
          </a:p>
          <a:p>
            <a:r>
              <a:rPr kumimoji="1" lang="en-US" altLang="zh-TW" sz="2400" dirty="0"/>
              <a:t>   • How much additional effort is required to integrate it?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32491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520B3F-C04A-0D55-E201-BFFE45DF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Evaluation Setup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7F7FEC-9136-2EB0-7A4A-D5646F6DD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zh-TW" dirty="0"/>
              <a:t>We design a controlled evaluation environment to simulate AI-agent behavior.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• Fake File System</a:t>
            </a:r>
          </a:p>
          <a:p>
            <a:r>
              <a:rPr kumimoji="1" lang="en-US" altLang="zh-TW" dirty="0"/>
              <a:t>  - Simulates sensitive system files (e.g., passwd, ssh keys, API keys)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• Local Sink Server</a:t>
            </a:r>
          </a:p>
          <a:p>
            <a:r>
              <a:rPr kumimoji="1" lang="en-US" altLang="zh-TW" dirty="0"/>
              <a:t>  - Captures exfiltration attempts via HTTP POST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• </a:t>
            </a:r>
            <a:r>
              <a:rPr kumimoji="1" lang="en-US" altLang="zh-TW" dirty="0" err="1"/>
              <a:t>OpenClaw</a:t>
            </a:r>
            <a:r>
              <a:rPr kumimoji="1" lang="en-US" altLang="zh-TW" dirty="0"/>
              <a:t> Agent</a:t>
            </a:r>
          </a:p>
          <a:p>
            <a:r>
              <a:rPr kumimoji="1" lang="en-US" altLang="zh-TW" dirty="0"/>
              <a:t>  - Executes tasks that trigger system-level behaviors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All experiments are conducted locally to ensure reproducibility and avoid real data exposure.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19704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BEAA7F-BFF5-05E6-B009-09E4B8B0D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Evaluation Design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AD927B-0165-1354-D5F5-93E299C9F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zh-TW" dirty="0"/>
              <a:t>• 15 test cases</a:t>
            </a:r>
          </a:p>
          <a:p>
            <a:r>
              <a:rPr kumimoji="1" lang="en-US" altLang="zh-TW" dirty="0"/>
              <a:t>  - 5 </a:t>
            </a:r>
            <a:r>
              <a:rPr kumimoji="1" lang="en-US" altLang="zh-TW" b="1" dirty="0"/>
              <a:t> </a:t>
            </a:r>
            <a:r>
              <a:rPr kumimoji="1" lang="en-US" altLang="zh-TW" dirty="0"/>
              <a:t>Benign behaviors</a:t>
            </a:r>
          </a:p>
          <a:p>
            <a:r>
              <a:rPr kumimoji="1" lang="en-US" altLang="zh-TW" dirty="0"/>
              <a:t>  - 5 Malicious attack scenarios (stimulated)</a:t>
            </a:r>
          </a:p>
          <a:p>
            <a:r>
              <a:rPr kumimoji="1" lang="en-US" altLang="zh-TW" dirty="0"/>
              <a:t>  - 5 Boundary test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Each case triggers different combinations of: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• execution chains</a:t>
            </a:r>
          </a:p>
          <a:p>
            <a:r>
              <a:rPr kumimoji="1" lang="en-US" altLang="zh-TW" dirty="0"/>
              <a:t>• file access patterns</a:t>
            </a:r>
          </a:p>
          <a:p>
            <a:r>
              <a:rPr kumimoji="1" lang="en-US" altLang="zh-TW" dirty="0"/>
              <a:t>• network activity</a:t>
            </a:r>
          </a:p>
          <a:p>
            <a:endParaRPr kumimoji="1" lang="en-US" altLang="zh-TW" dirty="0"/>
          </a:p>
          <a:p>
            <a:r>
              <a:rPr lang="en-US" altLang="zh-TW" dirty="0"/>
              <a:t>We analyze the reconstruction of the correct context and the assignment of appropriate risk scores.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3066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27B62F-F5C9-53DD-611B-161335B5D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Category: Benign</a:t>
            </a:r>
            <a:endParaRPr kumimoji="1" lang="zh-TW" altLang="en-US" dirty="0"/>
          </a:p>
        </p:txBody>
      </p:sp>
      <p:graphicFrame>
        <p:nvGraphicFramePr>
          <p:cNvPr id="10" name="內容版面配置區 9">
            <a:extLst>
              <a:ext uri="{FF2B5EF4-FFF2-40B4-BE49-F238E27FC236}">
                <a16:creationId xmlns:a16="http://schemas.microsoft.com/office/drawing/2014/main" id="{DC069CB0-5249-E7B7-8E6E-787AB758A3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411548"/>
              </p:ext>
            </p:extLst>
          </p:nvPr>
        </p:nvGraphicFramePr>
        <p:xfrm>
          <a:off x="464915" y="1851950"/>
          <a:ext cx="11262169" cy="3275466"/>
        </p:xfrm>
        <a:graphic>
          <a:graphicData uri="http://schemas.openxmlformats.org/drawingml/2006/table">
            <a:tbl>
              <a:tblPr/>
              <a:tblGrid>
                <a:gridCol w="1045863">
                  <a:extLst>
                    <a:ext uri="{9D8B030D-6E8A-4147-A177-3AD203B41FA5}">
                      <a16:colId xmlns:a16="http://schemas.microsoft.com/office/drawing/2014/main" val="4003346238"/>
                    </a:ext>
                  </a:extLst>
                </a:gridCol>
                <a:gridCol w="2423343">
                  <a:extLst>
                    <a:ext uri="{9D8B030D-6E8A-4147-A177-3AD203B41FA5}">
                      <a16:colId xmlns:a16="http://schemas.microsoft.com/office/drawing/2014/main" val="692253496"/>
                    </a:ext>
                  </a:extLst>
                </a:gridCol>
                <a:gridCol w="2015202">
                  <a:extLst>
                    <a:ext uri="{9D8B030D-6E8A-4147-A177-3AD203B41FA5}">
                      <a16:colId xmlns:a16="http://schemas.microsoft.com/office/drawing/2014/main" val="3019367447"/>
                    </a:ext>
                  </a:extLst>
                </a:gridCol>
                <a:gridCol w="2066218">
                  <a:extLst>
                    <a:ext uri="{9D8B030D-6E8A-4147-A177-3AD203B41FA5}">
                      <a16:colId xmlns:a16="http://schemas.microsoft.com/office/drawing/2014/main" val="2233135903"/>
                    </a:ext>
                  </a:extLst>
                </a:gridCol>
                <a:gridCol w="3711543">
                  <a:extLst>
                    <a:ext uri="{9D8B030D-6E8A-4147-A177-3AD203B41FA5}">
                      <a16:colId xmlns:a16="http://schemas.microsoft.com/office/drawing/2014/main" val="1201847001"/>
                    </a:ext>
                  </a:extLst>
                </a:gridCol>
              </a:tblGrid>
              <a:tr h="545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ID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Expected Score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Score 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Triggered Rules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856517"/>
                  </a:ext>
                </a:extLst>
              </a:tr>
              <a:tr h="545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B01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PDF/text analysis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10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(none)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274121"/>
                  </a:ext>
                </a:extLst>
              </a:tr>
              <a:tr h="545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B02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Weather API fetch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10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(none)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429624"/>
                  </a:ext>
                </a:extLst>
              </a:tr>
              <a:tr h="545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B03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CSV processing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10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(none)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28775"/>
                  </a:ext>
                </a:extLst>
              </a:tr>
              <a:tr h="545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B04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env snapshot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10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(none)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556550"/>
                  </a:ext>
                </a:extLst>
              </a:tr>
              <a:tr h="545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B05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info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10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(none)</a:t>
                      </a:r>
                    </a:p>
                  </a:txBody>
                  <a:tcPr marL="69352" marR="69352" marT="34676" marB="34676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447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691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6E70B0-586B-2DFB-D6A2-7E0D3705C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Category: Malicious</a:t>
            </a:r>
            <a:endParaRPr kumimoji="1"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54F7BC7-650F-5BEF-AB6F-E7A73C255D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00258"/>
              </p:ext>
            </p:extLst>
          </p:nvPr>
        </p:nvGraphicFramePr>
        <p:xfrm>
          <a:off x="511215" y="1168924"/>
          <a:ext cx="11169570" cy="5678896"/>
        </p:xfrm>
        <a:graphic>
          <a:graphicData uri="http://schemas.openxmlformats.org/drawingml/2006/table">
            <a:tbl>
              <a:tblPr/>
              <a:tblGrid>
                <a:gridCol w="1111170">
                  <a:extLst>
                    <a:ext uri="{9D8B030D-6E8A-4147-A177-3AD203B41FA5}">
                      <a16:colId xmlns:a16="http://schemas.microsoft.com/office/drawing/2014/main" val="4289378054"/>
                    </a:ext>
                  </a:extLst>
                </a:gridCol>
                <a:gridCol w="2328292">
                  <a:extLst>
                    <a:ext uri="{9D8B030D-6E8A-4147-A177-3AD203B41FA5}">
                      <a16:colId xmlns:a16="http://schemas.microsoft.com/office/drawing/2014/main" val="2390820251"/>
                    </a:ext>
                  </a:extLst>
                </a:gridCol>
                <a:gridCol w="1277815">
                  <a:extLst>
                    <a:ext uri="{9D8B030D-6E8A-4147-A177-3AD203B41FA5}">
                      <a16:colId xmlns:a16="http://schemas.microsoft.com/office/drawing/2014/main" val="2133135259"/>
                    </a:ext>
                  </a:extLst>
                </a:gridCol>
                <a:gridCol w="1746739">
                  <a:extLst>
                    <a:ext uri="{9D8B030D-6E8A-4147-A177-3AD203B41FA5}">
                      <a16:colId xmlns:a16="http://schemas.microsoft.com/office/drawing/2014/main" val="1887758882"/>
                    </a:ext>
                  </a:extLst>
                </a:gridCol>
                <a:gridCol w="4705554">
                  <a:extLst>
                    <a:ext uri="{9D8B030D-6E8A-4147-A177-3AD203B41FA5}">
                      <a16:colId xmlns:a16="http://schemas.microsoft.com/office/drawing/2014/main" val="3799104194"/>
                    </a:ext>
                  </a:extLst>
                </a:gridCol>
              </a:tblGrid>
              <a:tr h="77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ID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Expected Score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Score (est.)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Triggered Rules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073272"/>
                  </a:ext>
                </a:extLst>
              </a:tr>
              <a:tr h="77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M01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sensitive file upload via curl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sensitive_file_then_network</a:t>
                      </a: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sensitive_file_exfiltration_via_tooling</a:t>
                      </a:r>
                      <a:endParaRPr 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083415"/>
                  </a:ext>
                </a:extLst>
              </a:tr>
              <a:tr h="77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M02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another sensitive file upload via curl</a:t>
                      </a:r>
                      <a:endParaRPr 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sensitive_file_then_network</a:t>
                      </a: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sensitive_file_exfiltration_via_tooling</a:t>
                      </a:r>
                      <a:endParaRPr 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85978"/>
                  </a:ext>
                </a:extLst>
              </a:tr>
              <a:tr h="77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M03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sensitive file read, then </a:t>
                      </a: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write+exec</a:t>
                      </a: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 /</a:t>
                      </a: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tmp</a:t>
                      </a:r>
                      <a:endParaRPr lang="en-US" dirty="0">
                        <a:solidFill>
                          <a:srgbClr val="5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zh-TW" alt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sensitive_file_then_suspicious_exec</a:t>
                      </a: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write_then_exec_same_path</a:t>
                      </a: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write_then_exec_from_suspicious_path</a:t>
                      </a: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sometimes 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burst_exec_from_shell</a:t>
                      </a:r>
                      <a:endParaRPr 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678038"/>
                  </a:ext>
                </a:extLst>
              </a:tr>
              <a:tr h="77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M04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connect, then </a:t>
                      </a: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write+exec</a:t>
                      </a: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 /</a:t>
                      </a: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tmp</a:t>
                      </a:r>
                      <a:endParaRPr lang="en-US" dirty="0">
                        <a:solidFill>
                          <a:srgbClr val="5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zh-TW" alt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download_then_suspicious_exec</a:t>
                      </a: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download_then_shell_temp_exec</a:t>
                      </a: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write_then_exec_same_path</a:t>
                      </a: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write_then_exec_from_suspicious_path</a:t>
                      </a: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sometimes 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burst_exec_from_shell</a:t>
                      </a:r>
                      <a:endParaRPr 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130121"/>
                  </a:ext>
                </a:extLst>
              </a:tr>
              <a:tr h="77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M05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800" b="0" i="0" kern="1200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write and execute payload in /</a:t>
                      </a:r>
                      <a:r>
                        <a:rPr lang="en-US" altLang="zh-TW" sz="1800" b="0" i="0" kern="1200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tmp</a:t>
                      </a:r>
                      <a:endParaRPr lang="en-US" sz="1800" kern="12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en-US" altLang="zh-TW" sz="18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8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536" marR="64536" marT="32268" marB="32268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write_then_exec_same_path</a:t>
                      </a: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write_then_exec_from_suspicious_path</a:t>
                      </a: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sometimes </a:t>
                      </a: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burst_exec_from_shell</a:t>
                      </a:r>
                      <a:endParaRPr lang="en-US" dirty="0">
                        <a:solidFill>
                          <a:srgbClr val="5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924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47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523E71-268F-5ED8-5177-A264D993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Category: Boundary</a:t>
            </a:r>
            <a:endParaRPr kumimoji="1"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3E3167C-09E8-9941-D6F2-67C00208AD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561497"/>
              </p:ext>
            </p:extLst>
          </p:nvPr>
        </p:nvGraphicFramePr>
        <p:xfrm>
          <a:off x="609600" y="2156936"/>
          <a:ext cx="10972800" cy="3566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360813825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81221221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93206429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91504658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983503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Expected Behavior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Score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1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exec (2x)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below threshold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no trigger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2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T02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burst exec (3x)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still below (threshold=5)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confirms config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66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metadata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below threshold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no trigger</a:t>
                      </a:r>
                    </a:p>
                    <a:p>
                      <a:pPr>
                        <a:buNone/>
                      </a:pPr>
                      <a:endParaRPr lang="zh-TW" altLang="en-US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333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T04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tmp</a:t>
                      </a:r>
                      <a:r>
                        <a:rPr lang="en-US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write only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below threshold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no write→exec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703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T05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800" kern="12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local script execution in user workspace</a:t>
                      </a:r>
                      <a:endParaRPr lang="en-US" sz="1800" kern="1200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below threshold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b="1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dirty="0">
                        <a:solidFill>
                          <a:srgbClr val="5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✔️ </a:t>
                      </a:r>
                      <a:r>
                        <a:rPr lang="en-US" sz="1800" kern="1200" dirty="0" err="1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write+exec</a:t>
                      </a:r>
                      <a:r>
                        <a:rPr lang="en-US" sz="1800" kern="1200" dirty="0">
                          <a:solidFill>
                            <a:srgbClr val="5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without suspicious context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1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544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590C65-31DC-1A29-8553-DCCDDCDB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Engineering Impact (LoC)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7FAC51-B163-3028-0F43-7D27FF191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zh-TW" dirty="0"/>
              <a:t>We compare system complexity with and without the system.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Baseline (without CASA):</a:t>
            </a:r>
          </a:p>
          <a:p>
            <a:r>
              <a:rPr kumimoji="1" lang="en-US" altLang="zh-TW" dirty="0"/>
              <a:t>• raw system event monitoring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With CASA:</a:t>
            </a:r>
          </a:p>
          <a:p>
            <a:r>
              <a:rPr kumimoji="1" lang="en-US" altLang="zh-TW" dirty="0"/>
              <a:t>• session tracking</a:t>
            </a:r>
          </a:p>
          <a:p>
            <a:r>
              <a:rPr kumimoji="1" lang="en-US" altLang="zh-TW" dirty="0"/>
              <a:t>• context reconstruction</a:t>
            </a:r>
          </a:p>
          <a:p>
            <a:r>
              <a:rPr kumimoji="1" lang="en-US" altLang="zh-TW" dirty="0"/>
              <a:t>• rule evaluation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Metric:</a:t>
            </a:r>
          </a:p>
          <a:p>
            <a:r>
              <a:rPr kumimoji="1" lang="en-US" altLang="zh-TW" dirty="0"/>
              <a:t>• lines of code (LoC)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Goal:</a:t>
            </a:r>
          </a:p>
          <a:p>
            <a:r>
              <a:rPr kumimoji="1" lang="en-US" altLang="zh-TW" dirty="0"/>
              <a:t>• quantify the engineering overhead of adding context-aware security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2464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96D1ED-A8ED-1AFE-B816-EAA53305B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Engineering Impact (LoC)</a:t>
            </a:r>
            <a:endParaRPr kumimoji="1"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C37AA767-2145-32E8-6370-F2564A629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174987"/>
              </p:ext>
            </p:extLst>
          </p:nvPr>
        </p:nvGraphicFramePr>
        <p:xfrm>
          <a:off x="609600" y="2777924"/>
          <a:ext cx="10972800" cy="2555423"/>
        </p:xfrm>
        <a:graphic>
          <a:graphicData uri="http://schemas.openxmlformats.org/drawingml/2006/table">
            <a:tbl>
              <a:tblPr/>
              <a:tblGrid>
                <a:gridCol w="3950825">
                  <a:extLst>
                    <a:ext uri="{9D8B030D-6E8A-4147-A177-3AD203B41FA5}">
                      <a16:colId xmlns:a16="http://schemas.microsoft.com/office/drawing/2014/main" val="3921050671"/>
                    </a:ext>
                  </a:extLst>
                </a:gridCol>
                <a:gridCol w="3553428">
                  <a:extLst>
                    <a:ext uri="{9D8B030D-6E8A-4147-A177-3AD203B41FA5}">
                      <a16:colId xmlns:a16="http://schemas.microsoft.com/office/drawing/2014/main" val="3612089862"/>
                    </a:ext>
                  </a:extLst>
                </a:gridCol>
                <a:gridCol w="3468547">
                  <a:extLst>
                    <a:ext uri="{9D8B030D-6E8A-4147-A177-3AD203B41FA5}">
                      <a16:colId xmlns:a16="http://schemas.microsoft.com/office/drawing/2014/main" val="2146295152"/>
                    </a:ext>
                  </a:extLst>
                </a:gridCol>
              </a:tblGrid>
              <a:tr h="2720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Scenario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LOC with CASA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Policy LOC without CASA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488829"/>
                  </a:ext>
                </a:extLst>
              </a:tr>
              <a:tr h="641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Sensitive file access followed by network exfiltration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CEL expr line, or 6-7 LOC as one </a:t>
                      </a: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rules.json</a:t>
                      </a: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entry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~1200 LOC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710962"/>
                  </a:ext>
                </a:extLst>
              </a:tr>
              <a:tr h="922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 / connect then execute from suspicious path in shell lineage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CEL expr line, or 6-7 LOC as one </a:t>
                      </a: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rules.json</a:t>
                      </a: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entry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~1400 LOC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796850"/>
                  </a:ext>
                </a:extLst>
              </a:tr>
              <a:tr h="641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Write-then-execute same path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CEL expr line, or 6-7 LOC as one </a:t>
                      </a:r>
                      <a:r>
                        <a:rPr lang="en-US" dirty="0" err="1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rules.json</a:t>
                      </a: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entry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5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~1000 LOC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49557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20337B1-6E9B-09B3-8304-2EF480309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132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1DD3A50-3084-3E95-271B-8FDF8229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Discussion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8269440-CF0B-5918-BA42-F48953D3A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310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1480</Words>
  <Application>Microsoft Macintosh PowerPoint</Application>
  <PresentationFormat>寬螢幕</PresentationFormat>
  <Paragraphs>340</Paragraphs>
  <Slides>25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0" baseType="lpstr">
      <vt:lpstr>Arial</vt:lpstr>
      <vt:lpstr>Arial Black</vt:lpstr>
      <vt:lpstr>Arial Narrow</vt:lpstr>
      <vt:lpstr>Calibri</vt:lpstr>
      <vt:lpstr>Office Theme</vt:lpstr>
      <vt:lpstr>Context-aware Security Pipeline for Personal AI Agents</vt:lpstr>
      <vt:lpstr>Outline</vt:lpstr>
      <vt:lpstr>Introduction</vt:lpstr>
      <vt:lpstr>PowerPoint 簡報</vt:lpstr>
      <vt:lpstr>PowerPoint 簡報</vt:lpstr>
      <vt:lpstr>Related Work</vt:lpstr>
      <vt:lpstr>PowerPoint 簡報</vt:lpstr>
      <vt:lpstr>Problem Statement</vt:lpstr>
      <vt:lpstr>Design Goals</vt:lpstr>
      <vt:lpstr>System Overview</vt:lpstr>
      <vt:lpstr>Data Plane</vt:lpstr>
      <vt:lpstr>Control Plane</vt:lpstr>
      <vt:lpstr>PowerPoint 簡報</vt:lpstr>
      <vt:lpstr>Rule Engine</vt:lpstr>
      <vt:lpstr>Decision Model</vt:lpstr>
      <vt:lpstr>Implementation</vt:lpstr>
      <vt:lpstr>Evaluation - Overview</vt:lpstr>
      <vt:lpstr>Evaluation Setup</vt:lpstr>
      <vt:lpstr>Evaluation Design</vt:lpstr>
      <vt:lpstr>Category: Benign</vt:lpstr>
      <vt:lpstr>Category: Malicious</vt:lpstr>
      <vt:lpstr>Category: Boundary</vt:lpstr>
      <vt:lpstr>Engineering Impact (LoC)</vt:lpstr>
      <vt:lpstr>Engineering Impact (LoC)</vt:lpstr>
      <vt:lpstr>Discussion</vt:lpstr>
    </vt:vector>
  </TitlesOfParts>
  <Company>Texas A&amp;M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Larua Root</dc:creator>
  <cp:lastModifiedBy>劉嘉蕎</cp:lastModifiedBy>
  <cp:revision>54</cp:revision>
  <dcterms:created xsi:type="dcterms:W3CDTF">2017-04-06T15:59:40Z</dcterms:created>
  <dcterms:modified xsi:type="dcterms:W3CDTF">2026-05-03T02:52:34Z</dcterms:modified>
</cp:coreProperties>
</file>